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1068842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mplex assembly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mponent-a-zone"/>
          <p:cNvSpPr/>
          <p:nvPr/>
        </p:nvSpPr>
        <p:spPr>
          <a:xfrm>
            <a:off x="493492" y="1335041"/>
            <a:ext cx="4384803" cy="278335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DA5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mponent-b-zone"/>
          <p:cNvSpPr/>
          <p:nvPr/>
        </p:nvSpPr>
        <p:spPr>
          <a:xfrm>
            <a:off x="5994722" y="1335041"/>
            <a:ext cx="3486808" cy="27105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B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s1-s2_1"/>
          <p:cNvCxnSpPr/>
          <p:nvPr/>
        </p:nvCxnSpPr>
        <p:spPr>
          <a:xfrm>
            <a:off x="1140696" y="2354527"/>
            <a:ext cx="0" cy="242735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2-s3_1"/>
          <p:cNvCxnSpPr/>
          <p:nvPr/>
        </p:nvCxnSpPr>
        <p:spPr>
          <a:xfrm>
            <a:off x="1140696" y="3082731"/>
            <a:ext cx="0" cy="234644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3-s4_1"/>
          <p:cNvCxnSpPr/>
          <p:nvPr/>
        </p:nvCxnSpPr>
        <p:spPr>
          <a:xfrm>
            <a:off x="1634188" y="3560110"/>
            <a:ext cx="477313" cy="0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4-s5_1"/>
          <p:cNvCxnSpPr/>
          <p:nvPr/>
        </p:nvCxnSpPr>
        <p:spPr>
          <a:xfrm flipV="1">
            <a:off x="2596903" y="3082731"/>
            <a:ext cx="0" cy="234644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5-s6_1"/>
          <p:cNvCxnSpPr/>
          <p:nvPr/>
        </p:nvCxnSpPr>
        <p:spPr>
          <a:xfrm flipV="1">
            <a:off x="2596903" y="2354527"/>
            <a:ext cx="0" cy="234644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6-s7_1"/>
          <p:cNvCxnSpPr/>
          <p:nvPr/>
        </p:nvCxnSpPr>
        <p:spPr>
          <a:xfrm>
            <a:off x="3090396" y="2111792"/>
            <a:ext cx="477313" cy="0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7-s8_1"/>
          <p:cNvCxnSpPr/>
          <p:nvPr/>
        </p:nvCxnSpPr>
        <p:spPr>
          <a:xfrm>
            <a:off x="4053111" y="2354527"/>
            <a:ext cx="0" cy="242735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8-s9_1"/>
          <p:cNvCxnSpPr/>
          <p:nvPr/>
        </p:nvCxnSpPr>
        <p:spPr>
          <a:xfrm>
            <a:off x="4053111" y="3082731"/>
            <a:ext cx="0" cy="234644"/>
          </a:xfrm>
          <a:prstGeom prst="line">
            <a:avLst/>
          </a:prstGeom>
          <a:ln w="1651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mponent-a-main_1"/>
          <p:cNvCxnSpPr/>
          <p:nvPr/>
        </p:nvCxnSpPr>
        <p:spPr>
          <a:xfrm>
            <a:off x="2677804" y="4118400"/>
            <a:ext cx="0" cy="534016"/>
          </a:xfrm>
          <a:prstGeom prst="line">
            <a:avLst/>
          </a:prstGeom>
          <a:ln w="19050">
            <a:solidFill>
              <a:srgbClr val="078491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mponent-a-main_2"/>
          <p:cNvCxnSpPr/>
          <p:nvPr/>
        </p:nvCxnSpPr>
        <p:spPr>
          <a:xfrm>
            <a:off x="2677804" y="4652416"/>
            <a:ext cx="242701" cy="0"/>
          </a:xfrm>
          <a:prstGeom prst="line">
            <a:avLst/>
          </a:prstGeom>
          <a:ln w="19050">
            <a:solidFill>
              <a:srgbClr val="078491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mponent-a-main_3"/>
          <p:cNvCxnSpPr/>
          <p:nvPr/>
        </p:nvCxnSpPr>
        <p:spPr>
          <a:xfrm>
            <a:off x="2920505" y="4652416"/>
            <a:ext cx="0" cy="534017"/>
          </a:xfrm>
          <a:prstGeom prst="line">
            <a:avLst/>
          </a:prstGeom>
          <a:ln w="19050">
            <a:solidFill>
              <a:srgbClr val="07849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1-r2_1"/>
          <p:cNvCxnSpPr/>
          <p:nvPr/>
        </p:nvCxnSpPr>
        <p:spPr>
          <a:xfrm>
            <a:off x="6884626" y="2354527"/>
            <a:ext cx="0" cy="234644"/>
          </a:xfrm>
          <a:prstGeom prst="line">
            <a:avLst/>
          </a:prstGeom>
          <a:ln w="1651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2-r3_1"/>
          <p:cNvCxnSpPr/>
          <p:nvPr/>
        </p:nvCxnSpPr>
        <p:spPr>
          <a:xfrm>
            <a:off x="6884626" y="3082731"/>
            <a:ext cx="0" cy="234644"/>
          </a:xfrm>
          <a:prstGeom prst="line">
            <a:avLst/>
          </a:prstGeom>
          <a:ln w="1651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3-r4_1"/>
          <p:cNvCxnSpPr/>
          <p:nvPr/>
        </p:nvCxnSpPr>
        <p:spPr>
          <a:xfrm>
            <a:off x="7378119" y="3560110"/>
            <a:ext cx="1043616" cy="0"/>
          </a:xfrm>
          <a:prstGeom prst="line">
            <a:avLst/>
          </a:prstGeom>
          <a:ln w="1651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4-r5_1"/>
          <p:cNvCxnSpPr/>
          <p:nvPr/>
        </p:nvCxnSpPr>
        <p:spPr>
          <a:xfrm flipV="1">
            <a:off x="8907137" y="3042275"/>
            <a:ext cx="0" cy="275100"/>
          </a:xfrm>
          <a:prstGeom prst="line">
            <a:avLst/>
          </a:prstGeom>
          <a:ln w="1651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5-r6_1"/>
          <p:cNvCxnSpPr/>
          <p:nvPr/>
        </p:nvCxnSpPr>
        <p:spPr>
          <a:xfrm flipV="1">
            <a:off x="8907137" y="2354527"/>
            <a:ext cx="0" cy="194188"/>
          </a:xfrm>
          <a:prstGeom prst="line">
            <a:avLst/>
          </a:prstGeom>
          <a:ln w="1651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mponent-b-main_1"/>
          <p:cNvCxnSpPr/>
          <p:nvPr/>
        </p:nvCxnSpPr>
        <p:spPr>
          <a:xfrm>
            <a:off x="7734081" y="4045579"/>
            <a:ext cx="0" cy="566381"/>
          </a:xfrm>
          <a:prstGeom prst="line">
            <a:avLst/>
          </a:prstGeom>
          <a:ln w="19050">
            <a:solidFill>
              <a:srgbClr val="B9453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mponent-b-main_2"/>
          <p:cNvCxnSpPr/>
          <p:nvPr/>
        </p:nvCxnSpPr>
        <p:spPr>
          <a:xfrm flipH="1">
            <a:off x="7167778" y="4611960"/>
            <a:ext cx="566303" cy="0"/>
          </a:xfrm>
          <a:prstGeom prst="line">
            <a:avLst/>
          </a:prstGeom>
          <a:ln w="19050">
            <a:solidFill>
              <a:srgbClr val="B9453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mponent-b-main_3"/>
          <p:cNvCxnSpPr/>
          <p:nvPr/>
        </p:nvCxnSpPr>
        <p:spPr>
          <a:xfrm>
            <a:off x="7167778" y="4611960"/>
            <a:ext cx="0" cy="574473"/>
          </a:xfrm>
          <a:prstGeom prst="line">
            <a:avLst/>
          </a:prstGeom>
          <a:ln w="19050">
            <a:solidFill>
              <a:srgbClr val="B9453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1-p2_1"/>
          <p:cNvCxnSpPr/>
          <p:nvPr/>
        </p:nvCxnSpPr>
        <p:spPr>
          <a:xfrm>
            <a:off x="1795989" y="5429167"/>
            <a:ext cx="533943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2-p3_1"/>
          <p:cNvCxnSpPr/>
          <p:nvPr/>
        </p:nvCxnSpPr>
        <p:spPr>
          <a:xfrm>
            <a:off x="3300737" y="5429167"/>
            <a:ext cx="42877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3-p4_1"/>
          <p:cNvCxnSpPr/>
          <p:nvPr/>
        </p:nvCxnSpPr>
        <p:spPr>
          <a:xfrm>
            <a:off x="4708405" y="5429167"/>
            <a:ext cx="3964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4-p5_1"/>
          <p:cNvCxnSpPr/>
          <p:nvPr/>
        </p:nvCxnSpPr>
        <p:spPr>
          <a:xfrm>
            <a:off x="6083712" y="5429167"/>
            <a:ext cx="3964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5-p6_1"/>
          <p:cNvCxnSpPr/>
          <p:nvPr/>
        </p:nvCxnSpPr>
        <p:spPr>
          <a:xfrm>
            <a:off x="7863522" y="5429167"/>
            <a:ext cx="315511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p6-p7_1"/>
          <p:cNvCxnSpPr/>
          <p:nvPr/>
        </p:nvCxnSpPr>
        <p:spPr>
          <a:xfrm>
            <a:off x="9157928" y="5429167"/>
            <a:ext cx="3155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top-to-second-row_1"/>
          <p:cNvCxnSpPr/>
          <p:nvPr/>
        </p:nvCxnSpPr>
        <p:spPr>
          <a:xfrm>
            <a:off x="10856838" y="5429167"/>
            <a:ext cx="817094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top-to-second-row_2"/>
          <p:cNvCxnSpPr/>
          <p:nvPr/>
        </p:nvCxnSpPr>
        <p:spPr>
          <a:xfrm>
            <a:off x="11673932" y="5429167"/>
            <a:ext cx="0" cy="2904727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top-to-second-row_3"/>
          <p:cNvCxnSpPr/>
          <p:nvPr/>
        </p:nvCxnSpPr>
        <p:spPr>
          <a:xfrm flipH="1">
            <a:off x="11261340" y="8333894"/>
            <a:ext cx="41259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8-p9_1"/>
          <p:cNvCxnSpPr/>
          <p:nvPr/>
        </p:nvCxnSpPr>
        <p:spPr>
          <a:xfrm flipH="1">
            <a:off x="9886032" y="8333894"/>
            <a:ext cx="3964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9-p10_1"/>
          <p:cNvCxnSpPr/>
          <p:nvPr/>
        </p:nvCxnSpPr>
        <p:spPr>
          <a:xfrm flipH="1">
            <a:off x="8591625" y="8333894"/>
            <a:ext cx="3155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10-p11_1"/>
          <p:cNvCxnSpPr/>
          <p:nvPr/>
        </p:nvCxnSpPr>
        <p:spPr>
          <a:xfrm flipH="1">
            <a:off x="7297219" y="8333894"/>
            <a:ext cx="315511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11-p12_1"/>
          <p:cNvCxnSpPr/>
          <p:nvPr/>
        </p:nvCxnSpPr>
        <p:spPr>
          <a:xfrm flipH="1">
            <a:off x="6002812" y="8333894"/>
            <a:ext cx="315511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12-p13_1"/>
          <p:cNvCxnSpPr/>
          <p:nvPr/>
        </p:nvCxnSpPr>
        <p:spPr>
          <a:xfrm flipH="1">
            <a:off x="4279632" y="8333894"/>
            <a:ext cx="33978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13-p14_1"/>
          <p:cNvCxnSpPr/>
          <p:nvPr/>
        </p:nvCxnSpPr>
        <p:spPr>
          <a:xfrm flipH="1">
            <a:off x="2847695" y="8333894"/>
            <a:ext cx="45304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appearance-label_1"/>
          <p:cNvCxnSpPr/>
          <p:nvPr/>
        </p:nvCxnSpPr>
        <p:spPr>
          <a:xfrm>
            <a:off x="2354202" y="8576628"/>
            <a:ext cx="0" cy="48547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b1-b2_1"/>
          <p:cNvCxnSpPr/>
          <p:nvPr/>
        </p:nvCxnSpPr>
        <p:spPr>
          <a:xfrm>
            <a:off x="2847695" y="9304833"/>
            <a:ext cx="45304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b2-b3_1"/>
          <p:cNvCxnSpPr/>
          <p:nvPr/>
        </p:nvCxnSpPr>
        <p:spPr>
          <a:xfrm>
            <a:off x="4279632" y="9304833"/>
            <a:ext cx="33978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b3-b4_1"/>
          <p:cNvCxnSpPr/>
          <p:nvPr/>
        </p:nvCxnSpPr>
        <p:spPr>
          <a:xfrm>
            <a:off x="5841011" y="9304833"/>
            <a:ext cx="4773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b4-b5_1"/>
          <p:cNvCxnSpPr/>
          <p:nvPr/>
        </p:nvCxnSpPr>
        <p:spPr>
          <a:xfrm>
            <a:off x="7297219" y="9304833"/>
            <a:ext cx="396412" cy="0"/>
          </a:xfrm>
          <a:prstGeom prst="line">
            <a:avLst/>
          </a:prstGeom>
          <a:ln w="21590">
            <a:solidFill>
              <a:srgbClr val="56528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work-a-source_1"/>
          <p:cNvCxnSpPr/>
          <p:nvPr/>
        </p:nvCxnSpPr>
        <p:spPr>
          <a:xfrm>
            <a:off x="10161094" y="5671902"/>
            <a:ext cx="0" cy="27510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work-a-source_2"/>
          <p:cNvCxnSpPr/>
          <p:nvPr/>
        </p:nvCxnSpPr>
        <p:spPr>
          <a:xfrm flipH="1">
            <a:off x="8098133" y="5947002"/>
            <a:ext cx="2062961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work-a-source_3"/>
          <p:cNvCxnSpPr/>
          <p:nvPr/>
        </p:nvCxnSpPr>
        <p:spPr>
          <a:xfrm>
            <a:off x="8098133" y="5947002"/>
            <a:ext cx="0" cy="28319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work-b-source_1"/>
          <p:cNvCxnSpPr/>
          <p:nvPr/>
        </p:nvCxnSpPr>
        <p:spPr>
          <a:xfrm>
            <a:off x="8664436" y="5671902"/>
            <a:ext cx="0" cy="27510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ework-b-source_2"/>
          <p:cNvCxnSpPr/>
          <p:nvPr/>
        </p:nvCxnSpPr>
        <p:spPr>
          <a:xfrm>
            <a:off x="8664436" y="5947002"/>
            <a:ext cx="412592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work-b-source_3"/>
          <p:cNvCxnSpPr/>
          <p:nvPr/>
        </p:nvCxnSpPr>
        <p:spPr>
          <a:xfrm>
            <a:off x="9077028" y="5947002"/>
            <a:ext cx="0" cy="1254129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work-b-source_4"/>
          <p:cNvCxnSpPr/>
          <p:nvPr/>
        </p:nvCxnSpPr>
        <p:spPr>
          <a:xfrm flipH="1">
            <a:off x="8583535" y="7201131"/>
            <a:ext cx="493493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work-a-return_1"/>
          <p:cNvCxnSpPr/>
          <p:nvPr/>
        </p:nvCxnSpPr>
        <p:spPr>
          <a:xfrm flipH="1">
            <a:off x="6884626" y="6472927"/>
            <a:ext cx="728104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work-a-return_2"/>
          <p:cNvCxnSpPr/>
          <p:nvPr/>
        </p:nvCxnSpPr>
        <p:spPr>
          <a:xfrm flipV="1">
            <a:off x="6884626" y="5671902"/>
            <a:ext cx="0" cy="801025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work-b-return_1"/>
          <p:cNvCxnSpPr/>
          <p:nvPr/>
        </p:nvCxnSpPr>
        <p:spPr>
          <a:xfrm flipH="1">
            <a:off x="6884626" y="7201131"/>
            <a:ext cx="728104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ework-b-return_2"/>
          <p:cNvCxnSpPr/>
          <p:nvPr/>
        </p:nvCxnSpPr>
        <p:spPr>
          <a:xfrm flipV="1">
            <a:off x="6884626" y="5671902"/>
            <a:ext cx="0" cy="1529229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plit-to-repair_1"/>
          <p:cNvCxnSpPr/>
          <p:nvPr/>
        </p:nvCxnSpPr>
        <p:spPr>
          <a:xfrm>
            <a:off x="9077028" y="6877485"/>
            <a:ext cx="1982061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plit-to-repair_2"/>
          <p:cNvCxnSpPr/>
          <p:nvPr/>
        </p:nvCxnSpPr>
        <p:spPr>
          <a:xfrm>
            <a:off x="11059089" y="6877485"/>
            <a:ext cx="0" cy="169914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test1-fail_1"/>
          <p:cNvCxnSpPr/>
          <p:nvPr/>
        </p:nvCxnSpPr>
        <p:spPr>
          <a:xfrm flipV="1">
            <a:off x="8138583" y="7807968"/>
            <a:ext cx="0" cy="283191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test1-fail_2"/>
          <p:cNvCxnSpPr/>
          <p:nvPr/>
        </p:nvCxnSpPr>
        <p:spPr>
          <a:xfrm>
            <a:off x="8138583" y="7807968"/>
            <a:ext cx="2685894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est1-fail_3"/>
          <p:cNvCxnSpPr/>
          <p:nvPr/>
        </p:nvCxnSpPr>
        <p:spPr>
          <a:xfrm flipV="1">
            <a:off x="10824477" y="7532869"/>
            <a:ext cx="0" cy="275099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test2-fail_1"/>
          <p:cNvCxnSpPr/>
          <p:nvPr/>
        </p:nvCxnSpPr>
        <p:spPr>
          <a:xfrm flipV="1">
            <a:off x="9392540" y="7807968"/>
            <a:ext cx="0" cy="283191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test2-fail_2"/>
          <p:cNvCxnSpPr/>
          <p:nvPr/>
        </p:nvCxnSpPr>
        <p:spPr>
          <a:xfrm>
            <a:off x="9392540" y="7807968"/>
            <a:ext cx="1884980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test2-fail_3"/>
          <p:cNvCxnSpPr/>
          <p:nvPr/>
        </p:nvCxnSpPr>
        <p:spPr>
          <a:xfrm flipV="1">
            <a:off x="11277520" y="7532869"/>
            <a:ext cx="0" cy="275099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bottom-test-fail_1"/>
          <p:cNvCxnSpPr/>
          <p:nvPr/>
        </p:nvCxnSpPr>
        <p:spPr>
          <a:xfrm>
            <a:off x="5234257" y="9547568"/>
            <a:ext cx="0" cy="323646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bottom-test-fail_2"/>
          <p:cNvCxnSpPr/>
          <p:nvPr/>
        </p:nvCxnSpPr>
        <p:spPr>
          <a:xfrm flipH="1">
            <a:off x="970805" y="9871214"/>
            <a:ext cx="4263452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bottom-test-fail_3"/>
          <p:cNvCxnSpPr/>
          <p:nvPr/>
        </p:nvCxnSpPr>
        <p:spPr>
          <a:xfrm flipV="1">
            <a:off x="970805" y="7605689"/>
            <a:ext cx="0" cy="2265525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bottom-test-fail_4"/>
          <p:cNvCxnSpPr/>
          <p:nvPr/>
        </p:nvCxnSpPr>
        <p:spPr>
          <a:xfrm>
            <a:off x="970805" y="7605689"/>
            <a:ext cx="8494545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bottom-test-fail_5"/>
          <p:cNvCxnSpPr/>
          <p:nvPr/>
        </p:nvCxnSpPr>
        <p:spPr>
          <a:xfrm flipV="1">
            <a:off x="9465350" y="7403410"/>
            <a:ext cx="0" cy="202279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bottom-test-fail_6"/>
          <p:cNvCxnSpPr/>
          <p:nvPr/>
        </p:nvCxnSpPr>
        <p:spPr>
          <a:xfrm>
            <a:off x="9465350" y="7403410"/>
            <a:ext cx="1140696" cy="0"/>
          </a:xfrm>
          <a:prstGeom prst="line">
            <a:avLst/>
          </a:prstGeom>
          <a:ln w="21590">
            <a:solidFill>
              <a:srgbClr val="B64B42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1"/>
          <p:cNvSpPr/>
          <p:nvPr/>
        </p:nvSpPr>
        <p:spPr>
          <a:xfrm>
            <a:off x="655293" y="1860966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物料齐套</a:t>
            </a:r>
          </a:p>
        </p:txBody>
      </p:sp>
      <p:sp>
        <p:nvSpPr>
          <p:cNvPr id="69" name="s2"/>
          <p:cNvSpPr/>
          <p:nvPr/>
        </p:nvSpPr>
        <p:spPr>
          <a:xfrm>
            <a:off x="655293" y="2597262"/>
            <a:ext cx="978895" cy="485469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尺寸复核</a:t>
            </a:r>
          </a:p>
        </p:txBody>
      </p:sp>
      <p:sp>
        <p:nvSpPr>
          <p:cNvPr id="70" name="s3"/>
          <p:cNvSpPr/>
          <p:nvPr/>
        </p:nvSpPr>
        <p:spPr>
          <a:xfrm>
            <a:off x="655293" y="3317375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表面清洁</a:t>
            </a:r>
          </a:p>
        </p:txBody>
      </p:sp>
      <p:sp>
        <p:nvSpPr>
          <p:cNvPr id="71" name="s4"/>
          <p:cNvSpPr/>
          <p:nvPr/>
        </p:nvSpPr>
        <p:spPr>
          <a:xfrm>
            <a:off x="2111501" y="3317375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定位装夹</a:t>
            </a:r>
          </a:p>
        </p:txBody>
      </p:sp>
      <p:sp>
        <p:nvSpPr>
          <p:cNvPr id="72" name="s5"/>
          <p:cNvSpPr/>
          <p:nvPr/>
        </p:nvSpPr>
        <p:spPr>
          <a:xfrm>
            <a:off x="2111501" y="2589171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参数确认</a:t>
            </a:r>
          </a:p>
        </p:txBody>
      </p:sp>
      <p:sp>
        <p:nvSpPr>
          <p:cNvPr id="73" name="s6"/>
          <p:cNvSpPr/>
          <p:nvPr/>
        </p:nvSpPr>
        <p:spPr>
          <a:xfrm>
            <a:off x="2111501" y="1860966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预装配</a:t>
            </a:r>
          </a:p>
        </p:txBody>
      </p:sp>
      <p:sp>
        <p:nvSpPr>
          <p:cNvPr id="74" name="s7"/>
          <p:cNvSpPr/>
          <p:nvPr/>
        </p:nvSpPr>
        <p:spPr>
          <a:xfrm>
            <a:off x="3567709" y="1860966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扭矩锁付</a:t>
            </a:r>
          </a:p>
        </p:txBody>
      </p:sp>
      <p:sp>
        <p:nvSpPr>
          <p:cNvPr id="75" name="s8"/>
          <p:cNvSpPr/>
          <p:nvPr/>
        </p:nvSpPr>
        <p:spPr>
          <a:xfrm>
            <a:off x="3567709" y="2597262"/>
            <a:ext cx="978895" cy="485469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过程检验</a:t>
            </a:r>
          </a:p>
        </p:txBody>
      </p:sp>
      <p:sp>
        <p:nvSpPr>
          <p:cNvPr id="76" name="s9"/>
          <p:cNvSpPr/>
          <p:nvPr/>
        </p:nvSpPr>
        <p:spPr>
          <a:xfrm>
            <a:off x="3567709" y="3317375"/>
            <a:ext cx="978895" cy="493560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转序</a:t>
            </a:r>
          </a:p>
        </p:txBody>
      </p:sp>
      <p:sp>
        <p:nvSpPr>
          <p:cNvPr id="77" name="r1"/>
          <p:cNvSpPr/>
          <p:nvPr/>
        </p:nvSpPr>
        <p:spPr>
          <a:xfrm>
            <a:off x="6399224" y="1860966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组件配对</a:t>
            </a:r>
          </a:p>
        </p:txBody>
      </p:sp>
      <p:sp>
        <p:nvSpPr>
          <p:cNvPr id="78" name="r2"/>
          <p:cNvSpPr/>
          <p:nvPr/>
        </p:nvSpPr>
        <p:spPr>
          <a:xfrm>
            <a:off x="6399224" y="2589171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编码绑定</a:t>
            </a:r>
          </a:p>
        </p:txBody>
      </p:sp>
      <p:sp>
        <p:nvSpPr>
          <p:cNvPr id="79" name="r3"/>
          <p:cNvSpPr/>
          <p:nvPr/>
        </p:nvSpPr>
        <p:spPr>
          <a:xfrm>
            <a:off x="6399224" y="3317375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功能预检</a:t>
            </a:r>
          </a:p>
        </p:txBody>
      </p:sp>
      <p:sp>
        <p:nvSpPr>
          <p:cNvPr id="80" name="r4"/>
          <p:cNvSpPr/>
          <p:nvPr/>
        </p:nvSpPr>
        <p:spPr>
          <a:xfrm>
            <a:off x="8421735" y="3317375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参数校准</a:t>
            </a:r>
          </a:p>
        </p:txBody>
      </p:sp>
      <p:sp>
        <p:nvSpPr>
          <p:cNvPr id="81" name="r5"/>
          <p:cNvSpPr/>
          <p:nvPr/>
        </p:nvSpPr>
        <p:spPr>
          <a:xfrm>
            <a:off x="8421735" y="2548715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外观复核</a:t>
            </a:r>
          </a:p>
        </p:txBody>
      </p:sp>
      <p:sp>
        <p:nvSpPr>
          <p:cNvPr id="82" name="r6"/>
          <p:cNvSpPr/>
          <p:nvPr/>
        </p:nvSpPr>
        <p:spPr>
          <a:xfrm>
            <a:off x="8421735" y="1860966"/>
            <a:ext cx="978895" cy="493560"/>
          </a:xfrm>
          <a:prstGeom prst="roundRect">
            <a:avLst/>
          </a:prstGeom>
          <a:solidFill>
            <a:srgbClr val="F8D5CF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转序</a:t>
            </a:r>
          </a:p>
        </p:txBody>
      </p:sp>
      <p:sp>
        <p:nvSpPr>
          <p:cNvPr id="83" name="p1"/>
          <p:cNvSpPr/>
          <p:nvPr/>
        </p:nvSpPr>
        <p:spPr>
          <a:xfrm>
            <a:off x="817094" y="5186433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工位接收</a:t>
            </a:r>
          </a:p>
        </p:txBody>
      </p:sp>
      <p:sp>
        <p:nvSpPr>
          <p:cNvPr id="84" name="p2"/>
          <p:cNvSpPr/>
          <p:nvPr/>
        </p:nvSpPr>
        <p:spPr>
          <a:xfrm>
            <a:off x="2329932" y="5186433"/>
            <a:ext cx="970805" cy="485469"/>
          </a:xfrm>
          <a:prstGeom prst="roundRect">
            <a:avLst/>
          </a:prstGeom>
          <a:solidFill>
            <a:srgbClr val="A8DDE1"/>
          </a:solidFill>
          <a:ln w="10160">
            <a:solidFill>
              <a:srgbClr val="078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装配组件 A</a:t>
            </a:r>
          </a:p>
        </p:txBody>
      </p:sp>
      <p:sp>
        <p:nvSpPr>
          <p:cNvPr id="85" name="p3"/>
          <p:cNvSpPr/>
          <p:nvPr/>
        </p:nvSpPr>
        <p:spPr>
          <a:xfrm>
            <a:off x="3729509" y="5186433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安装轴承</a:t>
            </a:r>
          </a:p>
        </p:txBody>
      </p:sp>
      <p:sp>
        <p:nvSpPr>
          <p:cNvPr id="86" name="p4"/>
          <p:cNvSpPr/>
          <p:nvPr/>
        </p:nvSpPr>
        <p:spPr>
          <a:xfrm>
            <a:off x="5104817" y="5186433"/>
            <a:ext cx="978895" cy="485469"/>
          </a:xfrm>
          <a:prstGeom prst="roundRect">
            <a:avLst/>
          </a:prstGeom>
          <a:solidFill>
            <a:srgbClr val="A9C8EC"/>
          </a:solidFill>
          <a:ln w="10160">
            <a:solidFill>
              <a:srgbClr val="4B7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首次润滑</a:t>
            </a:r>
          </a:p>
        </p:txBody>
      </p:sp>
      <p:sp>
        <p:nvSpPr>
          <p:cNvPr id="87" name="p5"/>
          <p:cNvSpPr/>
          <p:nvPr/>
        </p:nvSpPr>
        <p:spPr>
          <a:xfrm>
            <a:off x="6480124" y="5186433"/>
            <a:ext cx="1383397" cy="485469"/>
          </a:xfrm>
          <a:prstGeom prst="roundRect">
            <a:avLst/>
          </a:prstGeom>
          <a:solidFill>
            <a:srgbClr val="F8D7D2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安装连接组件</a:t>
            </a:r>
          </a:p>
        </p:txBody>
      </p:sp>
      <p:sp>
        <p:nvSpPr>
          <p:cNvPr id="88" name="p6"/>
          <p:cNvSpPr/>
          <p:nvPr/>
        </p:nvSpPr>
        <p:spPr>
          <a:xfrm>
            <a:off x="8179033" y="5186433"/>
            <a:ext cx="978895" cy="485469"/>
          </a:xfrm>
          <a:prstGeom prst="roundRect">
            <a:avLst/>
          </a:prstGeom>
          <a:solidFill>
            <a:srgbClr val="F8D7D2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主件合装</a:t>
            </a:r>
          </a:p>
        </p:txBody>
      </p:sp>
      <p:sp>
        <p:nvSpPr>
          <p:cNvPr id="89" name="p7"/>
          <p:cNvSpPr/>
          <p:nvPr/>
        </p:nvSpPr>
        <p:spPr>
          <a:xfrm>
            <a:off x="9473440" y="5186433"/>
            <a:ext cx="1383397" cy="485469"/>
          </a:xfrm>
          <a:prstGeom prst="roundRect">
            <a:avLst/>
          </a:prstGeom>
          <a:solidFill>
            <a:srgbClr val="F8D7D2"/>
          </a:solidFill>
          <a:ln w="10160">
            <a:solidFill>
              <a:srgbClr val="C8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安装防护组件</a:t>
            </a:r>
          </a:p>
        </p:txBody>
      </p:sp>
      <p:sp>
        <p:nvSpPr>
          <p:cNvPr id="90" name="rework-part-a"/>
          <p:cNvSpPr/>
          <p:nvPr/>
        </p:nvSpPr>
        <p:spPr>
          <a:xfrm>
            <a:off x="7612730" y="6230192"/>
            <a:ext cx="970805" cy="485469"/>
          </a:xfrm>
          <a:prstGeom prst="roundRect">
            <a:avLst/>
          </a:prstGeom>
          <a:solidFill>
            <a:srgbClr val="FFE09A"/>
          </a:solidFill>
          <a:ln w="10160">
            <a:solidFill>
              <a:srgbClr val="D1A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待返工件 A</a:t>
            </a:r>
          </a:p>
        </p:txBody>
      </p:sp>
      <p:sp>
        <p:nvSpPr>
          <p:cNvPr id="91" name="rework-part-b"/>
          <p:cNvSpPr/>
          <p:nvPr/>
        </p:nvSpPr>
        <p:spPr>
          <a:xfrm>
            <a:off x="7612730" y="6958397"/>
            <a:ext cx="970805" cy="485469"/>
          </a:xfrm>
          <a:prstGeom prst="roundRect">
            <a:avLst/>
          </a:prstGeom>
          <a:solidFill>
            <a:srgbClr val="FFE09A"/>
          </a:solidFill>
          <a:ln w="10160">
            <a:solidFill>
              <a:srgbClr val="D1A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待返工件 B</a:t>
            </a:r>
          </a:p>
        </p:txBody>
      </p:sp>
      <p:sp>
        <p:nvSpPr>
          <p:cNvPr id="92" name="repair"/>
          <p:cNvSpPr/>
          <p:nvPr/>
        </p:nvSpPr>
        <p:spPr>
          <a:xfrm>
            <a:off x="10606046" y="7047399"/>
            <a:ext cx="897994" cy="485469"/>
          </a:xfrm>
          <a:prstGeom prst="roundRect">
            <a:avLst/>
          </a:prstGeom>
          <a:solidFill>
            <a:srgbClr val="EA7770"/>
          </a:solidFill>
          <a:ln w="11430">
            <a:solidFill>
              <a:srgbClr val="B64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返工工位</a:t>
            </a:r>
          </a:p>
        </p:txBody>
      </p:sp>
      <p:sp>
        <p:nvSpPr>
          <p:cNvPr id="93" name="p8"/>
          <p:cNvSpPr/>
          <p:nvPr/>
        </p:nvSpPr>
        <p:spPr>
          <a:xfrm>
            <a:off x="10282444" y="8091159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结构锁定</a:t>
            </a:r>
          </a:p>
        </p:txBody>
      </p:sp>
      <p:sp>
        <p:nvSpPr>
          <p:cNvPr id="94" name="p9"/>
          <p:cNvSpPr/>
          <p:nvPr/>
        </p:nvSpPr>
        <p:spPr>
          <a:xfrm>
            <a:off x="8907137" y="8091159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通断测试</a:t>
            </a:r>
          </a:p>
        </p:txBody>
      </p:sp>
      <p:sp>
        <p:nvSpPr>
          <p:cNvPr id="95" name="p10"/>
          <p:cNvSpPr/>
          <p:nvPr/>
        </p:nvSpPr>
        <p:spPr>
          <a:xfrm>
            <a:off x="7612730" y="8091159"/>
            <a:ext cx="978895" cy="485469"/>
          </a:xfrm>
          <a:prstGeom prst="roundRect">
            <a:avLst/>
          </a:prstGeom>
          <a:solidFill>
            <a:srgbClr val="EA7770"/>
          </a:solidFill>
          <a:ln w="11430">
            <a:solidFill>
              <a:srgbClr val="B64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功能综合测试</a:t>
            </a:r>
          </a:p>
        </p:txBody>
      </p:sp>
      <p:sp>
        <p:nvSpPr>
          <p:cNvPr id="96" name="p11"/>
          <p:cNvSpPr/>
          <p:nvPr/>
        </p:nvSpPr>
        <p:spPr>
          <a:xfrm>
            <a:off x="6318323" y="8091159"/>
            <a:ext cx="978895" cy="485469"/>
          </a:xfrm>
          <a:prstGeom prst="roundRect">
            <a:avLst/>
          </a:prstGeom>
          <a:solidFill>
            <a:srgbClr val="A9C8EC"/>
          </a:solidFill>
          <a:ln w="10160">
            <a:solidFill>
              <a:srgbClr val="4B7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二次润滑</a:t>
            </a:r>
          </a:p>
        </p:txBody>
      </p:sp>
      <p:sp>
        <p:nvSpPr>
          <p:cNvPr id="97" name="p12"/>
          <p:cNvSpPr/>
          <p:nvPr/>
        </p:nvSpPr>
        <p:spPr>
          <a:xfrm>
            <a:off x="4619414" y="8091159"/>
            <a:ext cx="1383397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密封与固化</a:t>
            </a:r>
          </a:p>
        </p:txBody>
      </p:sp>
      <p:sp>
        <p:nvSpPr>
          <p:cNvPr id="98" name="p13"/>
          <p:cNvSpPr/>
          <p:nvPr/>
        </p:nvSpPr>
        <p:spPr>
          <a:xfrm>
            <a:off x="3300737" y="8091159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固化确认</a:t>
            </a:r>
          </a:p>
        </p:txBody>
      </p:sp>
      <p:sp>
        <p:nvSpPr>
          <p:cNvPr id="99" name="p14"/>
          <p:cNvSpPr/>
          <p:nvPr/>
        </p:nvSpPr>
        <p:spPr>
          <a:xfrm>
            <a:off x="1868799" y="8091159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外观检查</a:t>
            </a:r>
          </a:p>
        </p:txBody>
      </p:sp>
      <p:sp>
        <p:nvSpPr>
          <p:cNvPr id="100" name="b1"/>
          <p:cNvSpPr/>
          <p:nvPr/>
        </p:nvSpPr>
        <p:spPr>
          <a:xfrm>
            <a:off x="1868799" y="9062098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贴追溯标签</a:t>
            </a:r>
          </a:p>
        </p:txBody>
      </p:sp>
      <p:sp>
        <p:nvSpPr>
          <p:cNvPr id="101" name="b2"/>
          <p:cNvSpPr/>
          <p:nvPr/>
        </p:nvSpPr>
        <p:spPr>
          <a:xfrm>
            <a:off x="3300737" y="9062098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终装锁付</a:t>
            </a:r>
          </a:p>
        </p:txBody>
      </p:sp>
      <p:sp>
        <p:nvSpPr>
          <p:cNvPr id="102" name="b3"/>
          <p:cNvSpPr/>
          <p:nvPr/>
        </p:nvSpPr>
        <p:spPr>
          <a:xfrm>
            <a:off x="4619414" y="9062098"/>
            <a:ext cx="1221596" cy="485469"/>
          </a:xfrm>
          <a:prstGeom prst="roundRect">
            <a:avLst/>
          </a:prstGeom>
          <a:solidFill>
            <a:srgbClr val="EA7770"/>
          </a:solidFill>
          <a:ln w="11430">
            <a:solidFill>
              <a:srgbClr val="B64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终检测试</a:t>
            </a:r>
          </a:p>
        </p:txBody>
      </p:sp>
      <p:sp>
        <p:nvSpPr>
          <p:cNvPr id="103" name="b4"/>
          <p:cNvSpPr/>
          <p:nvPr/>
        </p:nvSpPr>
        <p:spPr>
          <a:xfrm>
            <a:off x="6318323" y="9062098"/>
            <a:ext cx="978895" cy="485469"/>
          </a:xfrm>
          <a:prstGeom prst="roundRect">
            <a:avLst/>
          </a:prstGeom>
          <a:solidFill>
            <a:srgbClr val="D4D2E5"/>
          </a:solidFill>
          <a:ln w="10160">
            <a:solidFill>
              <a:srgbClr val="5652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出货检查</a:t>
            </a:r>
          </a:p>
        </p:txBody>
      </p:sp>
      <p:sp>
        <p:nvSpPr>
          <p:cNvPr id="104" name="b5"/>
          <p:cNvSpPr/>
          <p:nvPr/>
        </p:nvSpPr>
        <p:spPr>
          <a:xfrm>
            <a:off x="7693631" y="9062098"/>
            <a:ext cx="978895" cy="485469"/>
          </a:xfrm>
          <a:prstGeom prst="roundRect">
            <a:avLst/>
          </a:prstGeom>
          <a:solidFill>
            <a:srgbClr val="A8D98F"/>
          </a:solidFill>
          <a:ln w="10160">
            <a:solidFill>
              <a:srgbClr val="5D9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包装入库</a:t>
            </a:r>
          </a:p>
        </p:txBody>
      </p:sp>
      <p:sp>
        <p:nvSpPr>
          <p:cNvPr id="105" name="example-note"/>
          <p:cNvSpPr txBox="1"/>
          <p:nvPr/>
        </p:nvSpPr>
        <p:spPr>
          <a:xfrm>
            <a:off x="266971" y="258917"/>
            <a:ext cx="6310233" cy="242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匿名公开示例｜复杂装配、检测与返工闭环</a:t>
            </a:r>
          </a:p>
        </p:txBody>
      </p:sp>
      <p:sp>
        <p:nvSpPr>
          <p:cNvPr id="106" name="title"/>
          <p:cNvSpPr txBox="1"/>
          <p:nvPr/>
        </p:nvSpPr>
        <p:spPr>
          <a:xfrm>
            <a:off x="2831515" y="582563"/>
            <a:ext cx="6633835" cy="4369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通用产品装配与质量闭环流程</a:t>
            </a:r>
          </a:p>
        </p:txBody>
      </p:sp>
      <p:sp>
        <p:nvSpPr>
          <p:cNvPr id="107" name="component-a-title"/>
          <p:cNvSpPr txBox="1"/>
          <p:nvPr/>
        </p:nvSpPr>
        <p:spPr>
          <a:xfrm>
            <a:off x="809004" y="1432135"/>
            <a:ext cx="970805" cy="291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B928B"/>
                </a:solidFill>
                <a:latin typeface="Microsoft YaHei"/>
                <a:ea typeface="Microsoft YaHei"/>
                <a:cs typeface="Microsoft YaHei"/>
              </a:rPr>
              <a:t>部件准备 A</a:t>
            </a:r>
          </a:p>
        </p:txBody>
      </p:sp>
      <p:sp>
        <p:nvSpPr>
          <p:cNvPr id="108" name="component-b-title"/>
          <p:cNvSpPr txBox="1"/>
          <p:nvPr/>
        </p:nvSpPr>
        <p:spPr>
          <a:xfrm>
            <a:off x="6536754" y="1432135"/>
            <a:ext cx="970805" cy="291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77B5"/>
                </a:solidFill>
                <a:latin typeface="Microsoft YaHei"/>
                <a:ea typeface="Microsoft YaHei"/>
                <a:cs typeface="Microsoft YaHei"/>
              </a:rPr>
              <a:t>部件准备 B</a:t>
            </a:r>
          </a:p>
        </p:txBody>
      </p:sp>
      <p:sp>
        <p:nvSpPr>
          <p:cNvPr id="109" name="split-label"/>
          <p:cNvSpPr txBox="1"/>
          <p:nvPr/>
        </p:nvSpPr>
        <p:spPr>
          <a:xfrm>
            <a:off x="9093208" y="6650933"/>
            <a:ext cx="1496658" cy="307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拆分后的返工件</a:t>
            </a:r>
          </a:p>
        </p:txBody>
      </p:sp>
      <p:sp>
        <p:nvSpPr>
          <p:cNvPr id="110" name="fail-label-1"/>
          <p:cNvSpPr txBox="1"/>
          <p:nvPr/>
        </p:nvSpPr>
        <p:spPr>
          <a:xfrm>
            <a:off x="7653180" y="7799877"/>
            <a:ext cx="525852" cy="242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不合格</a:t>
            </a:r>
          </a:p>
        </p:txBody>
      </p:sp>
      <p:sp>
        <p:nvSpPr>
          <p:cNvPr id="111" name="fail-label-2"/>
          <p:cNvSpPr txBox="1"/>
          <p:nvPr/>
        </p:nvSpPr>
        <p:spPr>
          <a:xfrm>
            <a:off x="8947587" y="7799877"/>
            <a:ext cx="525852" cy="242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不合格</a:t>
            </a:r>
          </a:p>
        </p:txBody>
      </p:sp>
      <p:sp>
        <p:nvSpPr>
          <p:cNvPr id="112" name="fail-label-3"/>
          <p:cNvSpPr txBox="1"/>
          <p:nvPr/>
        </p:nvSpPr>
        <p:spPr>
          <a:xfrm>
            <a:off x="4773125" y="9555659"/>
            <a:ext cx="525852" cy="242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不合格</a:t>
            </a:r>
          </a:p>
        </p:txBody>
      </p:sp>
      <p:sp>
        <p:nvSpPr>
          <p:cNvPr id="113" name="editability-note"/>
          <p:cNvSpPr txBox="1"/>
          <p:nvPr/>
        </p:nvSpPr>
        <p:spPr>
          <a:xfrm>
            <a:off x="5582129" y="10235316"/>
            <a:ext cx="6391134" cy="291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所有节点、文字和连接线均可在 PowerPoint 中独立编辑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